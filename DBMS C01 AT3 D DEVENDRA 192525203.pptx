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presProps" Target="presProp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tableStyles" Target="tableStyle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notesMaster" Target="notesMasters/notesMaster1.xml" /><Relationship Id="rId30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4357CD-DF8E-F941-AD3B-28B70E6AD3AB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48FE30-0C3B-F14E-B431-73471CF510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618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1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1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1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1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1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1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4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743200"/>
            <a:ext cx="7315200" cy="7315200"/>
          </a:xfrm>
          <a:prstGeom prst="ellipse">
            <a:avLst/>
          </a:prstGeom>
          <a:solidFill>
            <a:srgbClr val="013843"/>
          </a:solidFill>
          <a:ln/>
        </p:spPr>
      </p:sp>
      <p:sp>
        <p:nvSpPr>
          <p:cNvPr id="3" name="Shape 1"/>
          <p:cNvSpPr/>
          <p:nvPr/>
        </p:nvSpPr>
        <p:spPr>
          <a:xfrm>
            <a:off x="-2926080" y="4206240"/>
            <a:ext cx="5669280" cy="5669280"/>
          </a:xfrm>
          <a:prstGeom prst="ellipse">
            <a:avLst/>
          </a:prstGeom>
          <a:solidFill>
            <a:srgbClr val="013843"/>
          </a:solidFill>
          <a:ln/>
        </p:spPr>
      </p:sp>
      <p:sp>
        <p:nvSpPr>
          <p:cNvPr id="4" name="Shape 2"/>
          <p:cNvSpPr/>
          <p:nvPr/>
        </p:nvSpPr>
        <p:spPr>
          <a:xfrm>
            <a:off x="9692640" y="2926080"/>
            <a:ext cx="1828800" cy="457200"/>
          </a:xfrm>
          <a:prstGeom prst="ellipse">
            <a:avLst/>
          </a:prstGeom>
          <a:solidFill>
            <a:srgbClr val="F2542D"/>
          </a:solidFill>
          <a:ln/>
        </p:spPr>
      </p:sp>
      <p:sp>
        <p:nvSpPr>
          <p:cNvPr id="5" name="Shape 3"/>
          <p:cNvSpPr/>
          <p:nvPr/>
        </p:nvSpPr>
        <p:spPr>
          <a:xfrm>
            <a:off x="9692640" y="3154680"/>
            <a:ext cx="1828800" cy="1371600"/>
          </a:xfrm>
          <a:prstGeom prst="rect">
            <a:avLst/>
          </a:prstGeom>
          <a:solidFill>
            <a:srgbClr val="F2542D"/>
          </a:solidFill>
          <a:ln/>
        </p:spPr>
      </p:sp>
      <p:sp>
        <p:nvSpPr>
          <p:cNvPr id="6" name="Shape 4"/>
          <p:cNvSpPr/>
          <p:nvPr/>
        </p:nvSpPr>
        <p:spPr>
          <a:xfrm>
            <a:off x="9692640" y="4297680"/>
            <a:ext cx="1828800" cy="457200"/>
          </a:xfrm>
          <a:prstGeom prst="ellipse">
            <a:avLst/>
          </a:prstGeom>
          <a:solidFill>
            <a:srgbClr val="C43D1E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0" y="3611880"/>
            <a:ext cx="1828800" cy="411480"/>
          </a:xfrm>
          <a:prstGeom prst="ellipse">
            <a:avLst/>
          </a:prstGeom>
          <a:solidFill>
            <a:srgbClr val="014654"/>
          </a:solidFill>
          <a:ln w="12700">
            <a:solidFill>
              <a:srgbClr val="01384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950208"/>
            <a:ext cx="1828800" cy="411480"/>
          </a:xfrm>
          <a:prstGeom prst="ellipse">
            <a:avLst/>
          </a:prstGeom>
          <a:solidFill>
            <a:srgbClr val="014654"/>
          </a:solidFill>
          <a:ln w="12700">
            <a:solidFill>
              <a:srgbClr val="013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Applied Concepts in Database Design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40080" y="37947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&amp; EER Modeling  •  Data Independence  •  DBMS Components  •  Entity Types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58368" y="4434840"/>
            <a:ext cx="1280160" cy="27432"/>
          </a:xfrm>
          <a:prstGeom prst="rect">
            <a:avLst/>
          </a:prstGeom>
          <a:solidFill>
            <a:srgbClr val="D9F0E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617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C7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Presentation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146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Core Topics in Database Design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64240" cy="16459"/>
          </a:xfrm>
          <a:prstGeom prst="rect">
            <a:avLst/>
          </a:prstGeom>
          <a:solidFill>
            <a:srgbClr val="D9F0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768096"/>
          </a:xfrm>
          <a:prstGeom prst="rect">
            <a:avLst/>
          </a:prstGeom>
          <a:solidFill>
            <a:srgbClr val="F1FAF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822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5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00200" y="18379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669280" y="1783080"/>
            <a:ext cx="5669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an Online Hotel Reservation System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679192"/>
            <a:ext cx="11064240" cy="7680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679192"/>
            <a:ext cx="822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5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00200" y="273405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EER Model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669280" y="2679192"/>
            <a:ext cx="5669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&amp; Specialization — Vehicle Rental case study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75304"/>
            <a:ext cx="11064240" cy="768096"/>
          </a:xfrm>
          <a:prstGeom prst="rect">
            <a:avLst/>
          </a:prstGeom>
          <a:solidFill>
            <a:srgbClr val="F1FAF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75304"/>
            <a:ext cx="822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5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600200" y="36301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Independence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669280" y="3575304"/>
            <a:ext cx="5669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and Physical independence in DBMS architecture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471416"/>
            <a:ext cx="11064240" cy="7680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71416"/>
            <a:ext cx="822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5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00200" y="4526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Components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669280" y="4471416"/>
            <a:ext cx="5669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Processor, Storage Manager, Transaction Manager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367528"/>
            <a:ext cx="11064240" cy="768096"/>
          </a:xfrm>
          <a:prstGeom prst="rect">
            <a:avLst/>
          </a:prstGeom>
          <a:solidFill>
            <a:srgbClr val="F1FAF9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367528"/>
            <a:ext cx="822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25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1600200" y="542239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vs Weak Entities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669280" y="5367528"/>
            <a:ext cx="56692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entity types with real-world examples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4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013843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754880"/>
            <a:ext cx="4389120" cy="4389120"/>
          </a:xfrm>
          <a:prstGeom prst="ellipse">
            <a:avLst/>
          </a:prstGeom>
          <a:solidFill>
            <a:srgbClr val="01384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745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F25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9200" dirty="0"/>
          </a:p>
        </p:txBody>
      </p:sp>
      <p:sp>
        <p:nvSpPr>
          <p:cNvPr id="5" name="Shape 3"/>
          <p:cNvSpPr/>
          <p:nvPr/>
        </p:nvSpPr>
        <p:spPr>
          <a:xfrm>
            <a:off x="685800" y="3401568"/>
            <a:ext cx="1463040" cy="27432"/>
          </a:xfrm>
          <a:prstGeom prst="rect">
            <a:avLst/>
          </a:prstGeom>
          <a:solidFill>
            <a:srgbClr val="D9F0E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6118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for an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Hotel Reservation System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attributes, relationships and cardinalities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· ER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46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Entity-Relationship (ER) Notation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64240" cy="16459"/>
          </a:xfrm>
          <a:prstGeom prst="rect">
            <a:avLst/>
          </a:prstGeom>
          <a:solidFill>
            <a:srgbClr val="D9F0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727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ER diagram is a graphical blueprint of a database. It shows what real-world objects (entities) the system tracks, the properties (attributes) of each, and how those objects relate to one another. Three shapes carry all the meaning: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3566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76200" dist="25400" dir="5400000" algn="bl" rotWithShape="0">
              <a:srgbClr val="AAAAAA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0" y="2834640"/>
            <a:ext cx="1188720" cy="548640"/>
          </a:xfrm>
          <a:prstGeom prst="rect">
            <a:avLst/>
          </a:prstGeom>
          <a:solidFill>
            <a:srgbClr val="01465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703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114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real-world object or concept, e.g. ROOM, GUEST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2514600"/>
            <a:ext cx="3566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76200" dist="25400" dir="5400000" algn="bl" rotWithShape="0">
              <a:srgbClr val="AAAAAA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0" y="2770632"/>
            <a:ext cx="1463040" cy="685800"/>
          </a:xfrm>
          <a:prstGeom prst="diamond">
            <a:avLst/>
          </a:prstGeom>
          <a:solidFill>
            <a:srgbClr val="F2542D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3703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4114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association between two or more entities, e.g. MAKES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2514600"/>
            <a:ext cx="356616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76200" dist="25400" dir="5400000" algn="bl" rotWithShape="0">
              <a:srgbClr val="AAAAAA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281160" y="2788920"/>
            <a:ext cx="1463040" cy="640080"/>
          </a:xfrm>
          <a:prstGeom prst="ellipse">
            <a:avLst/>
          </a:prstGeom>
          <a:solidFill>
            <a:srgbClr val="F1FAF9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0" y="3703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58200" y="4114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property describing an entity, e.g. Rate, Name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5440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Primary-key attributes are underlined; lines connecting shapes carry cardinality labels (1, N, M).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· ER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46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Entities of the Hotel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64240" cy="16459"/>
          </a:xfrm>
          <a:prstGeom prst="rect">
            <a:avLst/>
          </a:prstGeom>
          <a:solidFill>
            <a:srgbClr val="D9F0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3520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3520440" cy="457200"/>
          </a:xfrm>
          <a:prstGeom prst="rect">
            <a:avLst/>
          </a:prstGeom>
          <a:solidFill>
            <a:srgbClr val="01465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691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RoomNo (PK), Type, Rate, Floor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520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25112" y="1691640"/>
            <a:ext cx="3520440" cy="457200"/>
          </a:xfrm>
          <a:prstGeom prst="rect">
            <a:avLst/>
          </a:prstGeom>
          <a:solidFill>
            <a:srgbClr val="014654"/>
          </a:solidFill>
          <a:ln/>
        </p:spPr>
      </p:sp>
      <p:sp>
        <p:nvSpPr>
          <p:cNvPr id="11" name="Text 9"/>
          <p:cNvSpPr/>
          <p:nvPr/>
        </p:nvSpPr>
        <p:spPr>
          <a:xfrm>
            <a:off x="4325112" y="1691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07992" y="22860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AmenityID (PK), Name, Category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01584" y="1691640"/>
            <a:ext cx="3520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01584" y="1691640"/>
            <a:ext cx="3520440" cy="457200"/>
          </a:xfrm>
          <a:prstGeom prst="rect">
            <a:avLst/>
          </a:prstGeom>
          <a:solidFill>
            <a:srgbClr val="014654"/>
          </a:solidFill>
          <a:ln/>
        </p:spPr>
      </p:sp>
      <p:sp>
        <p:nvSpPr>
          <p:cNvPr id="15" name="Text 13"/>
          <p:cNvSpPr/>
          <p:nvPr/>
        </p:nvSpPr>
        <p:spPr>
          <a:xfrm>
            <a:off x="8101584" y="169164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84464" y="2286000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GuestID (PK), Name, Address, Phone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639312"/>
            <a:ext cx="3520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639312"/>
            <a:ext cx="3520440" cy="457200"/>
          </a:xfrm>
          <a:prstGeom prst="rect">
            <a:avLst/>
          </a:prstGeom>
          <a:solidFill>
            <a:srgbClr val="01465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63931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423367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HotelID (PK), Name, City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25112" y="3639312"/>
            <a:ext cx="3520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25112" y="3639312"/>
            <a:ext cx="3520440" cy="457200"/>
          </a:xfrm>
          <a:prstGeom prst="rect">
            <a:avLst/>
          </a:prstGeom>
          <a:solidFill>
            <a:srgbClr val="014654"/>
          </a:solidFill>
          <a:ln/>
        </p:spPr>
      </p:sp>
      <p:sp>
        <p:nvSpPr>
          <p:cNvPr id="23" name="Text 21"/>
          <p:cNvSpPr/>
          <p:nvPr/>
        </p:nvSpPr>
        <p:spPr>
          <a:xfrm>
            <a:off x="4325112" y="363931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07992" y="423367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StaffID (PK), Name, Designation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01584" y="3639312"/>
            <a:ext cx="3520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01584" y="3639312"/>
            <a:ext cx="3520440" cy="457200"/>
          </a:xfrm>
          <a:prstGeom prst="rect">
            <a:avLst/>
          </a:prstGeom>
          <a:solidFill>
            <a:srgbClr val="014654"/>
          </a:solidFill>
          <a:ln/>
        </p:spPr>
      </p:sp>
      <p:sp>
        <p:nvSpPr>
          <p:cNvPr id="27" name="Text 25"/>
          <p:cNvSpPr/>
          <p:nvPr/>
        </p:nvSpPr>
        <p:spPr>
          <a:xfrm>
            <a:off x="8101584" y="363931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84464" y="4233672"/>
            <a:ext cx="3154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 (PK), CheckIn, CheckOut, Status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· ER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46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— Online Hotel Reservation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64240" cy="16459"/>
          </a:xfrm>
          <a:prstGeom prst="rect">
            <a:avLst/>
          </a:prstGeom>
          <a:solidFill>
            <a:srgbClr val="D9F0EE"/>
          </a:solidFill>
          <a:ln/>
        </p:spPr>
      </p:sp>
      <p:sp>
        <p:nvSpPr>
          <p:cNvPr id="5" name="Shape 3"/>
          <p:cNvSpPr/>
          <p:nvPr/>
        </p:nvSpPr>
        <p:spPr>
          <a:xfrm flipH="1" flipV="1">
            <a:off x="1874520" y="3172968"/>
            <a:ext cx="182880" cy="4572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3172968"/>
            <a:ext cx="320040" cy="4572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 flipV="1">
            <a:off x="4343400" y="3172968"/>
            <a:ext cx="182880" cy="4572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3172968"/>
            <a:ext cx="320040" cy="4572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6812280" y="2560320"/>
            <a:ext cx="0" cy="571500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7406640" y="2034540"/>
            <a:ext cx="137160" cy="525780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12280" y="3223260"/>
            <a:ext cx="0" cy="434340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06640" y="3657600"/>
            <a:ext cx="137160" cy="662940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 flipV="1">
            <a:off x="4544568" y="2857500"/>
            <a:ext cx="4690872" cy="315468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 flipV="1">
            <a:off x="9829800" y="3172968"/>
            <a:ext cx="228600" cy="4572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880360"/>
            <a:ext cx="1554480" cy="594360"/>
          </a:xfrm>
          <a:prstGeom prst="rect">
            <a:avLst/>
          </a:prstGeom>
          <a:solidFill>
            <a:srgbClr val="014654"/>
          </a:solidFill>
          <a:ln w="19050">
            <a:solidFill>
              <a:srgbClr val="0146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880360"/>
            <a:ext cx="15544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34056" y="2825496"/>
            <a:ext cx="1847088" cy="704088"/>
          </a:xfrm>
          <a:prstGeom prst="rect">
            <a:avLst/>
          </a:prstGeom>
          <a:solidFill>
            <a:srgbClr val="FFFFFF"/>
          </a:solidFill>
          <a:ln w="19050">
            <a:solidFill>
              <a:srgbClr val="0146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88920" y="2880360"/>
            <a:ext cx="1737360" cy="594360"/>
          </a:xfrm>
          <a:prstGeom prst="rect">
            <a:avLst/>
          </a:prstGeom>
          <a:solidFill>
            <a:srgbClr val="014654"/>
          </a:solidFill>
          <a:ln w="19050">
            <a:solidFill>
              <a:srgbClr val="0146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2880360"/>
            <a:ext cx="17373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257800" y="2880360"/>
            <a:ext cx="1554480" cy="594360"/>
          </a:xfrm>
          <a:prstGeom prst="rect">
            <a:avLst/>
          </a:prstGeom>
          <a:solidFill>
            <a:srgbClr val="014654"/>
          </a:solidFill>
          <a:ln w="19050">
            <a:solidFill>
              <a:srgbClr val="0146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2880360"/>
            <a:ext cx="15544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43800" y="1737360"/>
            <a:ext cx="1737360" cy="594360"/>
          </a:xfrm>
          <a:prstGeom prst="rect">
            <a:avLst/>
          </a:prstGeom>
          <a:solidFill>
            <a:srgbClr val="014654"/>
          </a:solidFill>
          <a:ln w="19050">
            <a:solidFill>
              <a:srgbClr val="0146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43800" y="1737360"/>
            <a:ext cx="17373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43800" y="4023360"/>
            <a:ext cx="1737360" cy="594360"/>
          </a:xfrm>
          <a:prstGeom prst="rect">
            <a:avLst/>
          </a:prstGeom>
          <a:solidFill>
            <a:srgbClr val="014654"/>
          </a:solidFill>
          <a:ln w="19050">
            <a:solidFill>
              <a:srgbClr val="0146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4023360"/>
            <a:ext cx="17373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058400" y="2880360"/>
            <a:ext cx="1554480" cy="594360"/>
          </a:xfrm>
          <a:prstGeom prst="rect">
            <a:avLst/>
          </a:prstGeom>
          <a:solidFill>
            <a:srgbClr val="014654"/>
          </a:solidFill>
          <a:ln w="19050">
            <a:solidFill>
              <a:srgbClr val="0146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0" y="2880360"/>
            <a:ext cx="155448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874520" y="2944368"/>
            <a:ext cx="594360" cy="457200"/>
          </a:xfrm>
          <a:prstGeom prst="diamond">
            <a:avLst/>
          </a:prstGeom>
          <a:solidFill>
            <a:srgbClr val="F2542D"/>
          </a:solidFill>
          <a:ln w="12700">
            <a:solidFill>
              <a:srgbClr val="F254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00200" y="29443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343400" y="2944368"/>
            <a:ext cx="594360" cy="457200"/>
          </a:xfrm>
          <a:prstGeom prst="diamond">
            <a:avLst/>
          </a:prstGeom>
          <a:solidFill>
            <a:srgbClr val="F2542D"/>
          </a:solidFill>
          <a:ln w="12700">
            <a:solidFill>
              <a:srgbClr val="F254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69080" y="29443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6812280" y="2331720"/>
            <a:ext cx="594360" cy="457200"/>
          </a:xfrm>
          <a:prstGeom prst="diamond">
            <a:avLst/>
          </a:prstGeom>
          <a:solidFill>
            <a:srgbClr val="F2542D"/>
          </a:solidFill>
          <a:ln w="12700">
            <a:solidFill>
              <a:srgbClr val="F254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23317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812280" y="3429000"/>
            <a:ext cx="594360" cy="457200"/>
          </a:xfrm>
          <a:prstGeom prst="diamond">
            <a:avLst/>
          </a:prstGeom>
          <a:solidFill>
            <a:srgbClr val="F2542D"/>
          </a:solidFill>
          <a:ln w="12700">
            <a:solidFill>
              <a:srgbClr val="F2542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342900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LOCATED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9235440" y="2944368"/>
            <a:ext cx="594360" cy="457200"/>
          </a:xfrm>
          <a:prstGeom prst="diamond">
            <a:avLst/>
          </a:prstGeom>
          <a:solidFill>
            <a:srgbClr val="F2542D"/>
          </a:solidFill>
          <a:ln w="12700">
            <a:solidFill>
              <a:srgbClr val="F254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0" y="294436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112264" y="3040380"/>
            <a:ext cx="29260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112264" y="304038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523744" y="3040380"/>
            <a:ext cx="29260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2523744" y="304038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81144" y="3040380"/>
            <a:ext cx="29260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4581144" y="304038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992624" y="3040380"/>
            <a:ext cx="29260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4992624" y="304038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30568" y="2304288"/>
            <a:ext cx="29260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6830568" y="230428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443216" y="1897380"/>
            <a:ext cx="29260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7443216" y="189738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830568" y="3675888"/>
            <a:ext cx="29260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6830568" y="367588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443216" y="4183380"/>
            <a:ext cx="29260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7443216" y="418338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9710928" y="3040380"/>
            <a:ext cx="29260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9710928" y="3040380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8887968" y="2738628"/>
            <a:ext cx="292608" cy="2377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8887968" y="2738628"/>
            <a:ext cx="292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65760" y="1920240"/>
            <a:ext cx="1371600" cy="502920"/>
          </a:xfrm>
          <a:prstGeom prst="ellipse">
            <a:avLst/>
          </a:prstGeom>
          <a:solidFill>
            <a:srgbClr val="F1FAF9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1920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u="sng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GuestID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051560" y="2423160"/>
            <a:ext cx="0" cy="457200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120640" y="1920240"/>
            <a:ext cx="1371600" cy="502920"/>
          </a:xfrm>
          <a:prstGeom prst="ellipse">
            <a:avLst/>
          </a:prstGeom>
          <a:solidFill>
            <a:srgbClr val="F1FAF9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20640" y="19202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806440" y="2423160"/>
            <a:ext cx="0" cy="457200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" y="4892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is a weak entity — it depends on both GUEST and ROOM for identification (double-bordered box).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48640" y="52578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  Teal rectangle = Entity   ·   Coral diamond = Relationship   ·   Oval = Attribute   ·   Boxed number = Cardinality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 · ER DIAGRAM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46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Explaining the Relationships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64240" cy="16459"/>
          </a:xfrm>
          <a:prstGeom prst="rect">
            <a:avLst/>
          </a:prstGeom>
          <a:solidFill>
            <a:srgbClr val="D9F0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11064240" cy="822960"/>
          </a:xfrm>
          <a:prstGeom prst="rect">
            <a:avLst/>
          </a:prstGeom>
          <a:solidFill>
            <a:srgbClr val="F1FAF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459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— MAKES — RESERVATION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83480" y="1783080"/>
            <a:ext cx="457200" cy="457200"/>
          </a:xfrm>
          <a:prstGeom prst="ellipse">
            <a:avLst/>
          </a:prstGeom>
          <a:solidFill>
            <a:srgbClr val="F2542D"/>
          </a:solidFill>
          <a:ln/>
        </p:spPr>
      </p:sp>
      <p:sp>
        <p:nvSpPr>
          <p:cNvPr id="8" name="Text 6"/>
          <p:cNvSpPr/>
          <p:nvPr/>
        </p:nvSpPr>
        <p:spPr>
          <a:xfrm>
            <a:off x="49834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15000" y="16459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through the RESERVATION entity: a guest can make many reservations over time, but each reservation is made by exactly one guest.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1106424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603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— FOR — ROOM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983480" y="2697480"/>
            <a:ext cx="457200" cy="457200"/>
          </a:xfrm>
          <a:prstGeom prst="ellipse">
            <a:avLst/>
          </a:prstGeom>
          <a:solidFill>
            <a:srgbClr val="F2542D"/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15000" y="25603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reservations can reference the same room (across different dates), but each reservation is for exactly one room.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11064240" cy="822960"/>
          </a:xfrm>
          <a:prstGeom prst="rect">
            <a:avLst/>
          </a:prstGeom>
          <a:solidFill>
            <a:srgbClr val="F1FAF9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747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— HAS — AMENITY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983480" y="3611880"/>
            <a:ext cx="457200" cy="457200"/>
          </a:xfrm>
          <a:prstGeom prst="ellipse">
            <a:avLst/>
          </a:prstGeom>
          <a:solidFill>
            <a:srgbClr val="F2542D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15000" y="34747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room can offer multiple amenities (Wi-Fi, minibar, balcony), and each amenity type appears in many rooms.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343400"/>
            <a:ext cx="1106424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3891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— LOCATED IN — HOTEL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983480" y="4526280"/>
            <a:ext cx="457200" cy="457200"/>
          </a:xfrm>
          <a:prstGeom prst="ellipse">
            <a:avLst/>
          </a:prstGeom>
          <a:solidFill>
            <a:srgbClr val="F2542D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15000" y="43891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rooms belong to the same hotel property, but each room belongs to exactly one hotel.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5257800"/>
            <a:ext cx="11064240" cy="822960"/>
          </a:xfrm>
          <a:prstGeom prst="rect">
            <a:avLst/>
          </a:prstGeom>
          <a:solidFill>
            <a:srgbClr val="F1FAF9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3035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— PROCESSES — RESERVATION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983480" y="5440680"/>
            <a:ext cx="457200" cy="457200"/>
          </a:xfrm>
          <a:prstGeom prst="ellipse">
            <a:avLst/>
          </a:prstGeom>
          <a:solidFill>
            <a:srgbClr val="F2542D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15000" y="53035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front-desk staff member can process many reservations; each reservation is processed by exactly one staff member.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4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013843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754880"/>
            <a:ext cx="4389120" cy="4389120"/>
          </a:xfrm>
          <a:prstGeom prst="ellipse">
            <a:avLst/>
          </a:prstGeom>
          <a:solidFill>
            <a:srgbClr val="01384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745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F25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200" dirty="0"/>
          </a:p>
        </p:txBody>
      </p:sp>
      <p:sp>
        <p:nvSpPr>
          <p:cNvPr id="5" name="Shape 3"/>
          <p:cNvSpPr/>
          <p:nvPr/>
        </p:nvSpPr>
        <p:spPr>
          <a:xfrm>
            <a:off x="685800" y="3401568"/>
            <a:ext cx="1463040" cy="27432"/>
          </a:xfrm>
          <a:prstGeom prst="rect">
            <a:avLst/>
          </a:prstGeom>
          <a:solidFill>
            <a:srgbClr val="D9F0E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6118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EER Model: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 &amp; Specialization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class hierarchies — a Vehicle Rental Company case study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EER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46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ER to the EER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64240" cy="16459"/>
          </a:xfrm>
          <a:prstGeom prst="rect">
            <a:avLst/>
          </a:prstGeom>
          <a:solidFill>
            <a:srgbClr val="D9F0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727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Enhanced (Extended) ER Model, or EER, adds constructs the basic ER model lacks — needed to capture real-world class hierarchies such as "a Heavy-Duty Truck is a kind of Truck, which is a kind of Vehicle."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77340" y="2743200"/>
            <a:ext cx="640080" cy="640080"/>
          </a:xfrm>
          <a:prstGeom prst="ellipse">
            <a:avLst/>
          </a:prstGeom>
          <a:solidFill>
            <a:srgbClr val="014654"/>
          </a:solidFill>
          <a:ln/>
        </p:spPr>
      </p:sp>
      <p:sp>
        <p:nvSpPr>
          <p:cNvPr id="8" name="Text 6"/>
          <p:cNvSpPr/>
          <p:nvPr/>
        </p:nvSpPr>
        <p:spPr>
          <a:xfrm>
            <a:off x="157734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20" dirty="0"/>
          </a:p>
        </p:txBody>
      </p:sp>
      <p:sp>
        <p:nvSpPr>
          <p:cNvPr id="9" name="Text 7"/>
          <p:cNvSpPr/>
          <p:nvPr/>
        </p:nvSpPr>
        <p:spPr>
          <a:xfrm>
            <a:off x="685800" y="3520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977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Bottom-up: combine common features of several entity types into one superclass.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429000" y="251460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57700" y="2743200"/>
            <a:ext cx="640080" cy="640080"/>
          </a:xfrm>
          <a:prstGeom prst="ellipse">
            <a:avLst/>
          </a:prstGeom>
          <a:solidFill>
            <a:srgbClr val="014654"/>
          </a:solidFill>
          <a:ln/>
        </p:spPr>
      </p:sp>
      <p:sp>
        <p:nvSpPr>
          <p:cNvPr id="13" name="Text 11"/>
          <p:cNvSpPr/>
          <p:nvPr/>
        </p:nvSpPr>
        <p:spPr>
          <a:xfrm>
            <a:off x="445770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20" dirty="0"/>
          </a:p>
        </p:txBody>
      </p:sp>
      <p:sp>
        <p:nvSpPr>
          <p:cNvPr id="14" name="Text 12"/>
          <p:cNvSpPr/>
          <p:nvPr/>
        </p:nvSpPr>
        <p:spPr>
          <a:xfrm>
            <a:off x="3566160" y="3520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11880" y="3977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Top-down: divide an entity type into subclasses based on distinguishing features.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251460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38060" y="2743200"/>
            <a:ext cx="640080" cy="640080"/>
          </a:xfrm>
          <a:prstGeom prst="ellipse">
            <a:avLst/>
          </a:prstGeom>
          <a:solidFill>
            <a:srgbClr val="014654"/>
          </a:solidFill>
          <a:ln/>
        </p:spPr>
      </p:sp>
      <p:sp>
        <p:nvSpPr>
          <p:cNvPr id="18" name="Text 16"/>
          <p:cNvSpPr/>
          <p:nvPr/>
        </p:nvSpPr>
        <p:spPr>
          <a:xfrm>
            <a:off x="733806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20" dirty="0"/>
          </a:p>
        </p:txBody>
      </p:sp>
      <p:sp>
        <p:nvSpPr>
          <p:cNvPr id="19" name="Text 17"/>
          <p:cNvSpPr/>
          <p:nvPr/>
        </p:nvSpPr>
        <p:spPr>
          <a:xfrm>
            <a:off x="6446520" y="3520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Inheritance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3977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Subclasses inherit all attributes and relationships of their superclass.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189720" y="2514600"/>
            <a:ext cx="26974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218420" y="2743200"/>
            <a:ext cx="640080" cy="640080"/>
          </a:xfrm>
          <a:prstGeom prst="ellipse">
            <a:avLst/>
          </a:prstGeom>
          <a:solidFill>
            <a:srgbClr val="014654"/>
          </a:solidFill>
          <a:ln/>
        </p:spPr>
      </p:sp>
      <p:sp>
        <p:nvSpPr>
          <p:cNvPr id="23" name="Text 21"/>
          <p:cNvSpPr/>
          <p:nvPr/>
        </p:nvSpPr>
        <p:spPr>
          <a:xfrm>
            <a:off x="1021842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820" dirty="0"/>
          </a:p>
        </p:txBody>
      </p:sp>
      <p:sp>
        <p:nvSpPr>
          <p:cNvPr id="24" name="Text 22"/>
          <p:cNvSpPr/>
          <p:nvPr/>
        </p:nvSpPr>
        <p:spPr>
          <a:xfrm>
            <a:off x="9326880" y="35204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72600" y="39776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a relationship itself as a higher-level entity for further modeling.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EER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46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 vs. Specialization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64240" cy="16459"/>
          </a:xfrm>
          <a:prstGeom prst="rect">
            <a:avLst/>
          </a:prstGeom>
          <a:solidFill>
            <a:srgbClr val="D9F0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440680" cy="4023360"/>
          </a:xfrm>
          <a:prstGeom prst="rect">
            <a:avLst/>
          </a:prstGeom>
          <a:solidFill>
            <a:srgbClr val="01465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↑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27889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9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several entity types that share common attributes, and abstract out those commonalities into a single, more general superclass.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4434840"/>
            <a:ext cx="4800600" cy="868680"/>
          </a:xfrm>
          <a:prstGeom prst="rect">
            <a:avLst/>
          </a:prstGeom>
          <a:solidFill>
            <a:srgbClr val="013843"/>
          </a:solidFill>
          <a:ln w="12700">
            <a:solidFill>
              <a:srgbClr val="0B5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4348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+ TRUCK  →  VEHICLE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440680" cy="4023360"/>
          </a:xfrm>
          <a:prstGeom prst="rect">
            <a:avLst/>
          </a:prstGeom>
          <a:solidFill>
            <a:srgbClr val="F1FAF9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9202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146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SPECIALIZATION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2331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↓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92240" y="27889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entity type and partition it into subclasses, each with attributes or relationships specific to that subset.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4434840"/>
            <a:ext cx="4800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4348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 →  CAR + TRUCK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EER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46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Rental Case Study: Specialization Hierarchy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64240" cy="16459"/>
          </a:xfrm>
          <a:prstGeom prst="rect">
            <a:avLst/>
          </a:prstGeom>
          <a:solidFill>
            <a:srgbClr val="D9F0EE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1600200"/>
            <a:ext cx="2286000" cy="594360"/>
          </a:xfrm>
          <a:prstGeom prst="rect">
            <a:avLst/>
          </a:prstGeom>
          <a:solidFill>
            <a:srgbClr val="014654"/>
          </a:solidFill>
          <a:ln w="19050">
            <a:solidFill>
              <a:srgbClr val="0146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0" y="1600200"/>
            <a:ext cx="228600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63240" y="1554480"/>
            <a:ext cx="1371600" cy="457200"/>
          </a:xfrm>
          <a:prstGeom prst="ellipse">
            <a:avLst/>
          </a:prstGeom>
          <a:solidFill>
            <a:srgbClr val="F1FAF9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1554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u="sng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VehicleID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7726680" y="1554480"/>
            <a:ext cx="1371600" cy="457200"/>
          </a:xfrm>
          <a:prstGeom prst="ellipse">
            <a:avLst/>
          </a:prstGeom>
          <a:solidFill>
            <a:srgbClr val="F1FAF9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26680" y="1554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RegNo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434840" y="1783080"/>
            <a:ext cx="502920" cy="109728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7223760" y="1783080"/>
            <a:ext cx="502920" cy="109728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5760720" y="2331720"/>
            <a:ext cx="640080" cy="502920"/>
          </a:xfrm>
          <a:prstGeom prst="triangle">
            <a:avLst/>
          </a:prstGeom>
          <a:solidFill>
            <a:srgbClr val="F2542D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2423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2194560"/>
            <a:ext cx="0" cy="137160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3200400" y="2578608"/>
            <a:ext cx="2560320" cy="484632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578608"/>
            <a:ext cx="2468880" cy="484632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4560" y="3063240"/>
            <a:ext cx="2011680" cy="548640"/>
          </a:xfrm>
          <a:prstGeom prst="rect">
            <a:avLst/>
          </a:prstGeom>
          <a:solidFill>
            <a:srgbClr val="0B5560"/>
          </a:solidFill>
          <a:ln w="19050">
            <a:solidFill>
              <a:srgbClr val="0146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94560" y="3063240"/>
            <a:ext cx="2011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863840" y="3063240"/>
            <a:ext cx="2011680" cy="548640"/>
          </a:xfrm>
          <a:prstGeom prst="rect">
            <a:avLst/>
          </a:prstGeom>
          <a:solidFill>
            <a:srgbClr val="0B5560"/>
          </a:solidFill>
          <a:ln w="19050">
            <a:solidFill>
              <a:srgbClr val="0146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3063240"/>
            <a:ext cx="201168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3044952"/>
            <a:ext cx="1463040" cy="457200"/>
          </a:xfrm>
          <a:prstGeom prst="ellipse">
            <a:avLst/>
          </a:prstGeom>
          <a:solidFill>
            <a:srgbClr val="F1FAF9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04495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Seats, Trans.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057400" y="3291840"/>
            <a:ext cx="137160" cy="45720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012680" y="3044952"/>
            <a:ext cx="1554480" cy="457200"/>
          </a:xfrm>
          <a:prstGeom prst="ellipse">
            <a:avLst/>
          </a:prstGeom>
          <a:solidFill>
            <a:srgbClr val="F1FAF9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12680" y="304495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CargoCap.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 flipV="1">
            <a:off x="9875520" y="3291840"/>
            <a:ext cx="137160" cy="45720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2926080" y="3794760"/>
            <a:ext cx="548640" cy="438912"/>
          </a:xfrm>
          <a:prstGeom prst="triangle">
            <a:avLst/>
          </a:prstGeom>
          <a:solidFill>
            <a:srgbClr val="F2542D"/>
          </a:solidFill>
          <a:ln/>
        </p:spPr>
      </p:sp>
      <p:sp>
        <p:nvSpPr>
          <p:cNvPr id="29" name="Text 27"/>
          <p:cNvSpPr/>
          <p:nvPr/>
        </p:nvSpPr>
        <p:spPr>
          <a:xfrm>
            <a:off x="2926080" y="387705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0" y="3611880"/>
            <a:ext cx="0" cy="182880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>
            <a:off x="1577340" y="4023360"/>
            <a:ext cx="1348740" cy="411480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0" y="4023360"/>
            <a:ext cx="205740" cy="411480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5800" y="4434840"/>
            <a:ext cx="1783080" cy="502920"/>
          </a:xfrm>
          <a:prstGeom prst="rect">
            <a:avLst/>
          </a:prstGeom>
          <a:solidFill>
            <a:srgbClr val="D9F0EE"/>
          </a:solidFill>
          <a:ln w="19050">
            <a:solidFill>
              <a:srgbClr val="0146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" y="4434840"/>
            <a:ext cx="17830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88920" y="4434840"/>
            <a:ext cx="1783080" cy="502920"/>
          </a:xfrm>
          <a:prstGeom prst="rect">
            <a:avLst/>
          </a:prstGeom>
          <a:solidFill>
            <a:srgbClr val="D9F0EE"/>
          </a:solidFill>
          <a:ln w="19050">
            <a:solidFill>
              <a:srgbClr val="01465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88920" y="4434840"/>
            <a:ext cx="17830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SUV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 flipV="1">
            <a:off x="8595360" y="3794760"/>
            <a:ext cx="548640" cy="438912"/>
          </a:xfrm>
          <a:prstGeom prst="triangle">
            <a:avLst/>
          </a:prstGeom>
          <a:solidFill>
            <a:srgbClr val="F2542D"/>
          </a:solidFill>
          <a:ln/>
        </p:spPr>
      </p:sp>
      <p:sp>
        <p:nvSpPr>
          <p:cNvPr id="38" name="Text 36"/>
          <p:cNvSpPr/>
          <p:nvPr/>
        </p:nvSpPr>
        <p:spPr>
          <a:xfrm>
            <a:off x="8595360" y="387705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869680" y="3611880"/>
            <a:ext cx="0" cy="182880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>
            <a:off x="7749540" y="4023360"/>
            <a:ext cx="845820" cy="411480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144000" y="4023360"/>
            <a:ext cx="708660" cy="411480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58000" y="4434840"/>
            <a:ext cx="1783080" cy="502920"/>
          </a:xfrm>
          <a:prstGeom prst="rect">
            <a:avLst/>
          </a:prstGeom>
          <a:solidFill>
            <a:srgbClr val="D9F0EE"/>
          </a:solidFill>
          <a:ln w="19050">
            <a:solidFill>
              <a:srgbClr val="01465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0" y="4434840"/>
            <a:ext cx="17830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LIGHT-DUTY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961120" y="4434840"/>
            <a:ext cx="1783080" cy="502920"/>
          </a:xfrm>
          <a:prstGeom prst="rect">
            <a:avLst/>
          </a:prstGeom>
          <a:solidFill>
            <a:srgbClr val="D9F0EE"/>
          </a:solidFill>
          <a:ln w="19050">
            <a:solidFill>
              <a:srgbClr val="01465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961120" y="4434840"/>
            <a:ext cx="17830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HEAVY-DUTY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48640" y="52578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disjoint (a Truck is Light- or Heavy-Duty, never both)      o = overlapping (a crossover model can be marketed as both Sedan and SUV)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 · EER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46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Specialization Constraints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64240" cy="16459"/>
          </a:xfrm>
          <a:prstGeom prst="rect">
            <a:avLst/>
          </a:prstGeom>
          <a:solidFill>
            <a:srgbClr val="D9F0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440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82296" cy="1874520"/>
          </a:xfrm>
          <a:prstGeom prst="rect">
            <a:avLst/>
          </a:prstGeom>
          <a:solidFill>
            <a:srgbClr val="F2542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288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Disjoint (d)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22199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can belong to only ONE subclass at a time.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78892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A Truck is either Light-Duty or Heavy-Duty — never both.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440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72200" y="1691640"/>
            <a:ext cx="82296" cy="1874520"/>
          </a:xfrm>
          <a:prstGeom prst="rect">
            <a:avLst/>
          </a:prstGeom>
          <a:solidFill>
            <a:srgbClr val="F2542D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8288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(o)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222199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entity MAY belong to more than one subclass simultaneously.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78892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A Vehicle model can be marketed as both a Sedan and an SUV (a crossover).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5440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749040"/>
            <a:ext cx="82296" cy="1874520"/>
          </a:xfrm>
          <a:prstGeom prst="rect">
            <a:avLst/>
          </a:prstGeom>
          <a:solidFill>
            <a:srgbClr val="F2542D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8862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(double line)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427939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entity in the superclass MUST belong to at least one subclass.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484632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Every Vehicle in the fleet must be either a Car or a Truck — no exceptions.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3749040"/>
            <a:ext cx="544068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3749040"/>
            <a:ext cx="82296" cy="1874520"/>
          </a:xfrm>
          <a:prstGeom prst="rect">
            <a:avLst/>
          </a:prstGeom>
          <a:solidFill>
            <a:srgbClr val="F2542D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8862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(single line)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427939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Superclass entities MAY exist without belonging to any subclass.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484632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A newly registered Vehicle may not yet be categorized as Car or Truck.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14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013843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754880"/>
            <a:ext cx="4389120" cy="4389120"/>
          </a:xfrm>
          <a:prstGeom prst="ellipse">
            <a:avLst/>
          </a:prstGeom>
          <a:solidFill>
            <a:srgbClr val="01384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745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F25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200" dirty="0"/>
          </a:p>
        </p:txBody>
      </p:sp>
      <p:sp>
        <p:nvSpPr>
          <p:cNvPr id="5" name="Shape 3"/>
          <p:cNvSpPr/>
          <p:nvPr/>
        </p:nvSpPr>
        <p:spPr>
          <a:xfrm>
            <a:off x="685800" y="3401568"/>
            <a:ext cx="1463040" cy="27432"/>
          </a:xfrm>
          <a:prstGeom prst="rect">
            <a:avLst/>
          </a:prstGeom>
          <a:solidFill>
            <a:srgbClr val="D9F0E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6118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Independence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and Physical independence in DBMS architecture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DATA INDEPENDENCE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46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Three-Schema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64240" cy="16459"/>
          </a:xfrm>
          <a:prstGeom prst="rect">
            <a:avLst/>
          </a:prstGeom>
          <a:solidFill>
            <a:srgbClr val="D9F0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independence is the capacity to change a schema at one level without forcing changes at the level above it. It rests on the ANSI/SPARC three-schema architecture: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194560" y="2286000"/>
            <a:ext cx="7772400" cy="960120"/>
          </a:xfrm>
          <a:prstGeom prst="rect">
            <a:avLst/>
          </a:prstGeom>
          <a:solidFill>
            <a:srgbClr val="F1FAF9"/>
          </a:solidFill>
          <a:ln/>
        </p:spPr>
      </p:sp>
      <p:sp>
        <p:nvSpPr>
          <p:cNvPr id="7" name="Text 5"/>
          <p:cNvSpPr/>
          <p:nvPr/>
        </p:nvSpPr>
        <p:spPr>
          <a:xfrm>
            <a:off x="2468880" y="228600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Level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212080" y="228600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user views — what each application or user sees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3328416"/>
            <a:ext cx="3108960" cy="0"/>
          </a:xfrm>
          <a:prstGeom prst="line">
            <a:avLst/>
          </a:prstGeom>
          <a:noFill/>
          <a:ln w="25400">
            <a:solidFill>
              <a:srgbClr val="F2542D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7818120" y="31912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F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Data Independence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94560" y="3566160"/>
            <a:ext cx="7772400" cy="960120"/>
          </a:xfrm>
          <a:prstGeom prst="rect">
            <a:avLst/>
          </a:prstGeom>
          <a:solidFill>
            <a:srgbClr val="014654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356616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Level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212080" y="356616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community logical schema — entities, relationships, constraints for the whole database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26280" y="4608576"/>
            <a:ext cx="3108960" cy="0"/>
          </a:xfrm>
          <a:prstGeom prst="line">
            <a:avLst/>
          </a:prstGeom>
          <a:noFill/>
          <a:ln w="25400">
            <a:solidFill>
              <a:srgbClr val="F2542D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7818120" y="447141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F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Data Independence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194560" y="4846320"/>
            <a:ext cx="7772400" cy="960120"/>
          </a:xfrm>
          <a:prstGeom prst="rect">
            <a:avLst/>
          </a:prstGeom>
          <a:solidFill>
            <a:srgbClr val="013843"/>
          </a:solidFill>
          <a:ln/>
        </p:spPr>
      </p:sp>
      <p:sp>
        <p:nvSpPr>
          <p:cNvPr id="17" name="Text 15"/>
          <p:cNvSpPr/>
          <p:nvPr/>
        </p:nvSpPr>
        <p:spPr>
          <a:xfrm>
            <a:off x="2468880" y="484632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Level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12080" y="4846320"/>
            <a:ext cx="4480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schema — file organization, indexes, storage structures on disk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DATA INDEPENDENCE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46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vs. Physical Data Independence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64240" cy="16459"/>
          </a:xfrm>
          <a:prstGeom prst="rect">
            <a:avLst/>
          </a:prstGeom>
          <a:solidFill>
            <a:srgbClr val="D9F0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440680" cy="4023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5440680" cy="594360"/>
          </a:xfrm>
          <a:prstGeom prst="rect">
            <a:avLst/>
          </a:prstGeom>
          <a:solidFill>
            <a:srgbClr val="01465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Data Independence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change the conceptual (logical) schema without altering external schemas or the application programs that use them.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4160520"/>
            <a:ext cx="4892040" cy="1417320"/>
          </a:xfrm>
          <a:prstGeom prst="rect">
            <a:avLst/>
          </a:prstGeom>
          <a:solidFill>
            <a:srgbClr val="F1FAF9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42793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51560" y="4553712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column, e.g. Loyalty_Points, to the GUEST table does not break existing queries or views that don't reference 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440680" cy="4023360"/>
          </a:xfrm>
          <a:prstGeom prst="rect">
            <a:avLst/>
          </a:prstGeom>
          <a:solidFill>
            <a:srgbClr val="FFFFFF"/>
          </a:solidFill>
          <a:ln w="1524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691640"/>
            <a:ext cx="5440680" cy="594360"/>
          </a:xfrm>
          <a:prstGeom prst="rect">
            <a:avLst/>
          </a:prstGeom>
          <a:solidFill>
            <a:srgbClr val="014654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6916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Data Independence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446520" y="2514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46520" y="2788920"/>
            <a:ext cx="4937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ability to change the internal (physical/storage) schema without altering the conceptual schema or application programs.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4160520"/>
            <a:ext cx="4892040" cy="1417320"/>
          </a:xfrm>
          <a:prstGeom prst="rect">
            <a:avLst/>
          </a:prstGeom>
          <a:solidFill>
            <a:srgbClr val="F1FAF9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42793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75120" y="4553712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Re-partitioning the RESERVATION table across new disk volumes, or changing its index type, is invisible to applications.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 · DATA INDEPENDENCE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46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Data Independence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64240" cy="16459"/>
          </a:xfrm>
          <a:prstGeom prst="rect">
            <a:avLst/>
          </a:prstGeom>
          <a:solidFill>
            <a:srgbClr val="D9F0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5440680" cy="1783080"/>
          </a:xfrm>
          <a:prstGeom prst="rect">
            <a:avLst/>
          </a:prstGeom>
          <a:solidFill>
            <a:srgbClr val="F1FAF9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11680"/>
            <a:ext cx="548640" cy="548640"/>
          </a:xfrm>
          <a:prstGeom prst="ellipse">
            <a:avLst/>
          </a:prstGeom>
          <a:solidFill>
            <a:srgbClr val="01465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18745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Applications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2313432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are shielded from schema and storage changes, so maintenance doesn't ripple across the whole system.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5440680" cy="1783080"/>
          </a:xfrm>
          <a:prstGeom prst="rect">
            <a:avLst/>
          </a:prstGeom>
          <a:solidFill>
            <a:srgbClr val="F1FAF9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011680"/>
            <a:ext cx="548640" cy="548640"/>
          </a:xfrm>
          <a:prstGeom prst="ellipse">
            <a:avLst/>
          </a:prstGeom>
          <a:solidFill>
            <a:srgbClr val="014654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18745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Schema Evolution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23760" y="2313432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can grow and adapt — new fields, new tables — without rewriting existing software.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3977640"/>
            <a:ext cx="548640" cy="548640"/>
          </a:xfrm>
          <a:prstGeom prst="ellipse">
            <a:avLst/>
          </a:prstGeom>
          <a:solidFill>
            <a:srgbClr val="014654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00200" y="38404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Performance Tuning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4279392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DBAs can re-index, re-partition, or migrate storage to improve performance with zero impact on applications.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365760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3977640"/>
            <a:ext cx="548640" cy="548640"/>
          </a:xfrm>
          <a:prstGeom prst="ellipse">
            <a:avLst/>
          </a:prstGeom>
          <a:solidFill>
            <a:srgbClr val="014654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38404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Cost &amp; Risk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23760" y="4279392"/>
            <a:ext cx="4160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coordinated changes between DB and application teams means lower maintenance cost and fewer bugs.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14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013843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754880"/>
            <a:ext cx="4389120" cy="4389120"/>
          </a:xfrm>
          <a:prstGeom prst="ellipse">
            <a:avLst/>
          </a:prstGeom>
          <a:solidFill>
            <a:srgbClr val="01384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745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F25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200" dirty="0"/>
          </a:p>
        </p:txBody>
      </p:sp>
      <p:sp>
        <p:nvSpPr>
          <p:cNvPr id="5" name="Shape 3"/>
          <p:cNvSpPr/>
          <p:nvPr/>
        </p:nvSpPr>
        <p:spPr>
          <a:xfrm>
            <a:off x="685800" y="3401568"/>
            <a:ext cx="1463040" cy="27432"/>
          </a:xfrm>
          <a:prstGeom prst="rect">
            <a:avLst/>
          </a:prstGeom>
          <a:solidFill>
            <a:srgbClr val="D9F0E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6118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Components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a DBMS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 · Storage Manager · Transaction Manager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DBMS COMPONENTS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46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DBMS Architecture — Component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64240" cy="16459"/>
          </a:xfrm>
          <a:prstGeom prst="rect">
            <a:avLst/>
          </a:prstGeom>
          <a:solidFill>
            <a:srgbClr val="D9F0EE"/>
          </a:solidFill>
          <a:ln/>
        </p:spPr>
      </p:sp>
      <p:sp>
        <p:nvSpPr>
          <p:cNvPr id="5" name="Shape 3"/>
          <p:cNvSpPr/>
          <p:nvPr/>
        </p:nvSpPr>
        <p:spPr>
          <a:xfrm>
            <a:off x="4480560" y="1600200"/>
            <a:ext cx="3200400" cy="548640"/>
          </a:xfrm>
          <a:prstGeom prst="rect">
            <a:avLst/>
          </a:prstGeom>
          <a:solidFill>
            <a:srgbClr val="013843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1600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/ Application Programs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80760" y="2148840"/>
            <a:ext cx="0" cy="365760"/>
          </a:xfrm>
          <a:prstGeom prst="line">
            <a:avLst/>
          </a:prstGeom>
          <a:noFill/>
          <a:ln w="25400">
            <a:solidFill>
              <a:srgbClr val="0146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606040"/>
            <a:ext cx="2926080" cy="1188720"/>
          </a:xfrm>
          <a:prstGeom prst="rect">
            <a:avLst/>
          </a:prstGeom>
          <a:solidFill>
            <a:srgbClr val="014654"/>
          </a:solidFill>
          <a:ln/>
          <a:effectLst>
            <a:outerShdw blurRad="63500" dist="25400" dir="5400000" algn="bl" rotWithShape="0">
              <a:srgbClr val="AAAAAA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Processor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097280" y="31363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Parses, optimizes &amp; executes queries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2606040"/>
            <a:ext cx="2926080" cy="1188720"/>
          </a:xfrm>
          <a:prstGeom prst="rect">
            <a:avLst/>
          </a:prstGeom>
          <a:solidFill>
            <a:srgbClr val="014654"/>
          </a:solidFill>
          <a:ln/>
          <a:effectLst>
            <a:outerShdw blurRad="63500" dist="25400" dir="5400000" algn="bl" rotWithShape="0">
              <a:srgbClr val="AAAAAA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Manager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00600" y="31363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ACID properties &amp; concurrency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21040" y="2606040"/>
            <a:ext cx="2926080" cy="1188720"/>
          </a:xfrm>
          <a:prstGeom prst="rect">
            <a:avLst/>
          </a:prstGeom>
          <a:solidFill>
            <a:srgbClr val="014654"/>
          </a:solidFill>
          <a:ln/>
          <a:effectLst>
            <a:outerShdw blurRad="63500" dist="25400" dir="5400000" algn="bl" rotWithShape="0">
              <a:srgbClr val="AAAAAA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503920" y="27432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Manager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503920" y="313639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data access on physical storage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2514600"/>
            <a:ext cx="0" cy="91440"/>
          </a:xfrm>
          <a:prstGeom prst="line">
            <a:avLst/>
          </a:prstGeom>
          <a:noFill/>
          <a:ln w="25400">
            <a:solidFill>
              <a:srgbClr val="01465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0" y="3200400"/>
            <a:ext cx="777240" cy="0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43800" y="3200400"/>
            <a:ext cx="777240" cy="0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377440" y="3794760"/>
            <a:ext cx="0" cy="365760"/>
          </a:xfrm>
          <a:prstGeom prst="line">
            <a:avLst/>
          </a:prstGeom>
          <a:noFill/>
          <a:ln w="25400">
            <a:solidFill>
              <a:srgbClr val="01465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3794760"/>
            <a:ext cx="0" cy="365760"/>
          </a:xfrm>
          <a:prstGeom prst="line">
            <a:avLst/>
          </a:prstGeom>
          <a:noFill/>
          <a:ln w="25400">
            <a:solidFill>
              <a:srgbClr val="01465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84080" y="3794760"/>
            <a:ext cx="0" cy="365760"/>
          </a:xfrm>
          <a:prstGeom prst="line">
            <a:avLst/>
          </a:prstGeom>
          <a:noFill/>
          <a:ln w="25400">
            <a:solidFill>
              <a:srgbClr val="01465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26080" y="4206240"/>
            <a:ext cx="6309360" cy="685800"/>
          </a:xfrm>
          <a:prstGeom prst="rect">
            <a:avLst/>
          </a:prstGeom>
          <a:solidFill>
            <a:srgbClr val="F2542D"/>
          </a:solidFill>
          <a:ln/>
        </p:spPr>
      </p:sp>
      <p:sp>
        <p:nvSpPr>
          <p:cNvPr id="24" name="Text 22"/>
          <p:cNvSpPr/>
          <p:nvPr/>
        </p:nvSpPr>
        <p:spPr>
          <a:xfrm>
            <a:off x="2926080" y="420624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 (stored data, indexes, metadata)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212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components work together: the Query Processor interprets what the user wants, the Transaction Manager keeps execution safe and consistent, and the Storage Manager physically reads and writes the data — for example, when a guest's booking is confirmed on a hotel website.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DBMS COMPONENTS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46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Query Processor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64240" cy="16459"/>
          </a:xfrm>
          <a:prstGeom prst="rect">
            <a:avLst/>
          </a:prstGeom>
          <a:solidFill>
            <a:srgbClr val="D9F0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727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a declarative query (e.g. SQL) into an efficient sequence of physical operations.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59461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331720"/>
            <a:ext cx="2594610" cy="502920"/>
          </a:xfrm>
          <a:prstGeom prst="rect">
            <a:avLst/>
          </a:prstGeom>
          <a:solidFill>
            <a:srgbClr val="01465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331720"/>
            <a:ext cx="2320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Interpreter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222885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schema definitions (CREATE, ALTER) and stores them as metadata in the data dictionary.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71850" y="2331720"/>
            <a:ext cx="259461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71850" y="2331720"/>
            <a:ext cx="2594610" cy="502920"/>
          </a:xfrm>
          <a:prstGeom prst="rect">
            <a:avLst/>
          </a:prstGeom>
          <a:solidFill>
            <a:srgbClr val="014654"/>
          </a:solidFill>
          <a:ln/>
        </p:spPr>
      </p:sp>
      <p:sp>
        <p:nvSpPr>
          <p:cNvPr id="12" name="Text 10"/>
          <p:cNvSpPr/>
          <p:nvPr/>
        </p:nvSpPr>
        <p:spPr>
          <a:xfrm>
            <a:off x="3509010" y="2331720"/>
            <a:ext cx="2320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Compiler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54730" y="3017520"/>
            <a:ext cx="222885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Translates DML statements (SELECT, INSERT, UPDATE) into a low-level, executable query plan.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95060" y="2331720"/>
            <a:ext cx="259461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2331720"/>
            <a:ext cx="2594610" cy="502920"/>
          </a:xfrm>
          <a:prstGeom prst="rect">
            <a:avLst/>
          </a:prstGeom>
          <a:solidFill>
            <a:srgbClr val="014654"/>
          </a:solidFill>
          <a:ln/>
        </p:spPr>
      </p:sp>
      <p:sp>
        <p:nvSpPr>
          <p:cNvPr id="16" name="Text 14"/>
          <p:cNvSpPr/>
          <p:nvPr/>
        </p:nvSpPr>
        <p:spPr>
          <a:xfrm>
            <a:off x="6332220" y="2331720"/>
            <a:ext cx="2320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Optimizer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77940" y="3017520"/>
            <a:ext cx="222885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the most efficient execution strategy among many logically equivalent plans, using cost estimates.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18270" y="2331720"/>
            <a:ext cx="259461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18270" y="2331720"/>
            <a:ext cx="2594610" cy="502920"/>
          </a:xfrm>
          <a:prstGeom prst="rect">
            <a:avLst/>
          </a:prstGeom>
          <a:solidFill>
            <a:srgbClr val="014654"/>
          </a:solidFill>
          <a:ln/>
        </p:spPr>
      </p:sp>
      <p:sp>
        <p:nvSpPr>
          <p:cNvPr id="20" name="Text 18"/>
          <p:cNvSpPr/>
          <p:nvPr/>
        </p:nvSpPr>
        <p:spPr>
          <a:xfrm>
            <a:off x="9155430" y="2331720"/>
            <a:ext cx="2320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Evaluation Engine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201150" y="3017520"/>
            <a:ext cx="222885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optimized plan — e.g. 'find available rooms for these dates' — and returns the result set.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sub-components ensure a query written for readability is executed for performance.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DBMS COMPONENTS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46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Storage Manager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64240" cy="16459"/>
          </a:xfrm>
          <a:prstGeom prst="rect">
            <a:avLst/>
          </a:prstGeom>
          <a:solidFill>
            <a:srgbClr val="D9F0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727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the gap between high-level DBMS operations and low-level data stored on disk.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59461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331720"/>
            <a:ext cx="2594610" cy="502920"/>
          </a:xfrm>
          <a:prstGeom prst="rect">
            <a:avLst/>
          </a:prstGeom>
          <a:solidFill>
            <a:srgbClr val="01465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331720"/>
            <a:ext cx="2320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Manager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222885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allocation of disk space and the data structures used to represent stored information.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71850" y="2331720"/>
            <a:ext cx="259461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71850" y="2331720"/>
            <a:ext cx="2594610" cy="502920"/>
          </a:xfrm>
          <a:prstGeom prst="rect">
            <a:avLst/>
          </a:prstGeom>
          <a:solidFill>
            <a:srgbClr val="014654"/>
          </a:solidFill>
          <a:ln/>
        </p:spPr>
      </p:sp>
      <p:sp>
        <p:nvSpPr>
          <p:cNvPr id="12" name="Text 10"/>
          <p:cNvSpPr/>
          <p:nvPr/>
        </p:nvSpPr>
        <p:spPr>
          <a:xfrm>
            <a:off x="3509010" y="2331720"/>
            <a:ext cx="2320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Manager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54730" y="3017520"/>
            <a:ext cx="222885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data from disk into main memory and decides what to cache, balancing I/O cost.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95060" y="2331720"/>
            <a:ext cx="259461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2331720"/>
            <a:ext cx="2594610" cy="502920"/>
          </a:xfrm>
          <a:prstGeom prst="rect">
            <a:avLst/>
          </a:prstGeom>
          <a:solidFill>
            <a:srgbClr val="014654"/>
          </a:solidFill>
          <a:ln/>
        </p:spPr>
      </p:sp>
      <p:sp>
        <p:nvSpPr>
          <p:cNvPr id="16" name="Text 14"/>
          <p:cNvSpPr/>
          <p:nvPr/>
        </p:nvSpPr>
        <p:spPr>
          <a:xfrm>
            <a:off x="6332220" y="2331720"/>
            <a:ext cx="2320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&amp; Integrity Manager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77940" y="3017520"/>
            <a:ext cx="222885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user permissions and enforces integrity constraints before data is modified.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18270" y="2331720"/>
            <a:ext cx="259461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18270" y="2331720"/>
            <a:ext cx="2594610" cy="502920"/>
          </a:xfrm>
          <a:prstGeom prst="rect">
            <a:avLst/>
          </a:prstGeom>
          <a:solidFill>
            <a:srgbClr val="014654"/>
          </a:solidFill>
          <a:ln/>
        </p:spPr>
      </p:sp>
      <p:sp>
        <p:nvSpPr>
          <p:cNvPr id="20" name="Text 18"/>
          <p:cNvSpPr/>
          <p:nvPr/>
        </p:nvSpPr>
        <p:spPr>
          <a:xfrm>
            <a:off x="9155430" y="2331720"/>
            <a:ext cx="2320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Structures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201150" y="3017520"/>
            <a:ext cx="222885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B-Trees, hash indexes, etc. so a room or reservation can be located without scanning the entire file.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Storage Manager is the only component that directly interacts with the operating system's file system.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· DBMS COMPONENTS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46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Transaction Manager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64240" cy="16459"/>
          </a:xfrm>
          <a:prstGeom prst="rect">
            <a:avLst/>
          </a:prstGeom>
          <a:solidFill>
            <a:srgbClr val="D9F0E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727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that every transaction leaves the database in a correct, consistent state — even under failures or concurrent access.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59461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331720"/>
            <a:ext cx="2594610" cy="502920"/>
          </a:xfrm>
          <a:prstGeom prst="rect">
            <a:avLst/>
          </a:prstGeom>
          <a:solidFill>
            <a:srgbClr val="01465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331720"/>
            <a:ext cx="2320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Enforcement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222885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every transaction is Atomic, Consistent, Isolated, and Durable.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71850" y="2331720"/>
            <a:ext cx="259461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71850" y="2331720"/>
            <a:ext cx="2594610" cy="502920"/>
          </a:xfrm>
          <a:prstGeom prst="rect">
            <a:avLst/>
          </a:prstGeom>
          <a:solidFill>
            <a:srgbClr val="014654"/>
          </a:solidFill>
          <a:ln/>
        </p:spPr>
      </p:sp>
      <p:sp>
        <p:nvSpPr>
          <p:cNvPr id="12" name="Text 10"/>
          <p:cNvSpPr/>
          <p:nvPr/>
        </p:nvSpPr>
        <p:spPr>
          <a:xfrm>
            <a:off x="3509010" y="2331720"/>
            <a:ext cx="2320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Control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54730" y="3017520"/>
            <a:ext cx="222885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locking or timestamping so two guests booking the last room at once don't corrupt shared data.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95060" y="2331720"/>
            <a:ext cx="259461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2331720"/>
            <a:ext cx="2594610" cy="502920"/>
          </a:xfrm>
          <a:prstGeom prst="rect">
            <a:avLst/>
          </a:prstGeom>
          <a:solidFill>
            <a:srgbClr val="014654"/>
          </a:solidFill>
          <a:ln/>
        </p:spPr>
      </p:sp>
      <p:sp>
        <p:nvSpPr>
          <p:cNvPr id="16" name="Text 14"/>
          <p:cNvSpPr/>
          <p:nvPr/>
        </p:nvSpPr>
        <p:spPr>
          <a:xfrm>
            <a:off x="6332220" y="2331720"/>
            <a:ext cx="2320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Manager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77940" y="3017520"/>
            <a:ext cx="222885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Restores the database to a consistent state after a crash, using logs and checkpoints.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18270" y="2331720"/>
            <a:ext cx="259461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018270" y="2331720"/>
            <a:ext cx="2594610" cy="502920"/>
          </a:xfrm>
          <a:prstGeom prst="rect">
            <a:avLst/>
          </a:prstGeom>
          <a:solidFill>
            <a:srgbClr val="014654"/>
          </a:solidFill>
          <a:ln/>
        </p:spPr>
      </p:sp>
      <p:sp>
        <p:nvSpPr>
          <p:cNvPr id="20" name="Text 18"/>
          <p:cNvSpPr/>
          <p:nvPr/>
        </p:nvSpPr>
        <p:spPr>
          <a:xfrm>
            <a:off x="9155430" y="2331720"/>
            <a:ext cx="23202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Manager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201150" y="3017520"/>
            <a:ext cx="222885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and releases locks on data items to prevent conflicting concurrent operations.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Transaction Manager, concurrent bookings could double-allocate the same room.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14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013843"/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754880"/>
            <a:ext cx="4389120" cy="4389120"/>
          </a:xfrm>
          <a:prstGeom prst="ellipse">
            <a:avLst/>
          </a:prstGeom>
          <a:solidFill>
            <a:srgbClr val="01384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7452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F254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200" dirty="0"/>
          </a:p>
        </p:txBody>
      </p:sp>
      <p:sp>
        <p:nvSpPr>
          <p:cNvPr id="5" name="Shape 3"/>
          <p:cNvSpPr/>
          <p:nvPr/>
        </p:nvSpPr>
        <p:spPr>
          <a:xfrm>
            <a:off x="685800" y="3401568"/>
            <a:ext cx="1463040" cy="27432"/>
          </a:xfrm>
          <a:prstGeom prst="rect">
            <a:avLst/>
          </a:prstGeom>
          <a:solidFill>
            <a:srgbClr val="D9F0E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6118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vs. Weak Entities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entity types with real-world examples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· ENTITY TYPES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46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vs. Weak Entities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64240" cy="16459"/>
          </a:xfrm>
          <a:prstGeom prst="rect">
            <a:avLst/>
          </a:prstGeom>
          <a:solidFill>
            <a:srgbClr val="D9F0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5440680" cy="1554480"/>
          </a:xfrm>
          <a:prstGeom prst="rect">
            <a:avLst/>
          </a:prstGeom>
          <a:solidFill>
            <a:srgbClr val="01465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STRONG ENTITY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9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its own primary key and can be uniquely identified independent of any other entity. It exists on its own.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F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HOTEL, GUEST, COURSE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440680" cy="1554480"/>
          </a:xfrm>
          <a:prstGeom prst="rect">
            <a:avLst/>
          </a:prstGeom>
          <a:solidFill>
            <a:srgbClr val="F1FAF9"/>
          </a:solidFill>
          <a:ln/>
        </p:spPr>
      </p:sp>
      <p:sp>
        <p:nvSpPr>
          <p:cNvPr id="10" name="Text 8"/>
          <p:cNvSpPr/>
          <p:nvPr/>
        </p:nvSpPr>
        <p:spPr>
          <a:xfrm>
            <a:off x="644652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146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WEAK ENTITY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21488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B3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no primary key of its own; it relies on a partial key (discriminator) plus the primary key of an owner entity to be uniquely identified.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46520" y="2880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i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 ROOM, INVOICE_LINE, COURSE_SECTION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2194560" cy="457200"/>
          </a:xfrm>
          <a:prstGeom prst="rect">
            <a:avLst/>
          </a:prstGeom>
          <a:solidFill>
            <a:srgbClr val="014654"/>
          </a:solidFill>
          <a:ln w="9525">
            <a:solidFill>
              <a:srgbClr val="D9F0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29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0" y="3429000"/>
            <a:ext cx="4434840" cy="457200"/>
          </a:xfrm>
          <a:prstGeom prst="rect">
            <a:avLst/>
          </a:prstGeom>
          <a:solidFill>
            <a:srgbClr val="014654"/>
          </a:solidFill>
          <a:ln w="9525">
            <a:solidFill>
              <a:srgbClr val="D9F0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34290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Entity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78040" y="3429000"/>
            <a:ext cx="4434840" cy="457200"/>
          </a:xfrm>
          <a:prstGeom prst="rect">
            <a:avLst/>
          </a:prstGeom>
          <a:solidFill>
            <a:srgbClr val="014654"/>
          </a:solidFill>
          <a:ln w="9525">
            <a:solidFill>
              <a:srgbClr val="D9F0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69480" y="34290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Entity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F0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886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0" y="3886200"/>
            <a:ext cx="44348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F0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34640" y="38862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its own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78040" y="3886200"/>
            <a:ext cx="44348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F0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269480" y="38862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Borrows owner's key + discriminator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343400"/>
            <a:ext cx="2194560" cy="457200"/>
          </a:xfrm>
          <a:prstGeom prst="rect">
            <a:avLst/>
          </a:prstGeom>
          <a:solidFill>
            <a:srgbClr val="F1FAF9"/>
          </a:solidFill>
          <a:ln w="9525">
            <a:solidFill>
              <a:srgbClr val="D9F0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343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0" y="4343400"/>
            <a:ext cx="4434840" cy="457200"/>
          </a:xfrm>
          <a:prstGeom prst="rect">
            <a:avLst/>
          </a:prstGeom>
          <a:solidFill>
            <a:srgbClr val="F1FAF9"/>
          </a:solidFill>
          <a:ln w="9525">
            <a:solidFill>
              <a:srgbClr val="D9F0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0" y="43434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78040" y="4343400"/>
            <a:ext cx="4434840" cy="457200"/>
          </a:xfrm>
          <a:prstGeom prst="rect">
            <a:avLst/>
          </a:prstGeom>
          <a:solidFill>
            <a:srgbClr val="F1FAF9"/>
          </a:solidFill>
          <a:ln w="9525">
            <a:solidFill>
              <a:srgbClr val="D9F0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9480" y="43434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the owner entity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800600"/>
            <a:ext cx="21945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F0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8006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notation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0" y="4800600"/>
            <a:ext cx="44348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F0E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34640" y="48006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rectangle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178040" y="4800600"/>
            <a:ext cx="44348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F0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69480" y="48006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Double-bordered rectangle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5257800"/>
            <a:ext cx="2194560" cy="457200"/>
          </a:xfrm>
          <a:prstGeom prst="rect">
            <a:avLst/>
          </a:prstGeom>
          <a:solidFill>
            <a:srgbClr val="F1FAF9"/>
          </a:solidFill>
          <a:ln w="9525">
            <a:solidFill>
              <a:srgbClr val="D9F0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257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743200" y="5257800"/>
            <a:ext cx="4434840" cy="457200"/>
          </a:xfrm>
          <a:prstGeom prst="rect">
            <a:avLst/>
          </a:prstGeom>
          <a:solidFill>
            <a:srgbClr val="F1FAF9"/>
          </a:solidFill>
          <a:ln w="9525">
            <a:solidFill>
              <a:srgbClr val="D9F0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834640" y="52578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relationship (diamond)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178040" y="5257800"/>
            <a:ext cx="4434840" cy="457200"/>
          </a:xfrm>
          <a:prstGeom prst="rect">
            <a:avLst/>
          </a:prstGeom>
          <a:solidFill>
            <a:srgbClr val="F1FAF9"/>
          </a:solidFill>
          <a:ln w="9525">
            <a:solidFill>
              <a:srgbClr val="D9F0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69480" y="52578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relationship (double diamond)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F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 · ENTITY TYPES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146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53312"/>
            <a:ext cx="11064240" cy="16459"/>
          </a:xfrm>
          <a:prstGeom prst="rect">
            <a:avLst/>
          </a:prstGeom>
          <a:solidFill>
            <a:srgbClr val="D9F0E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35204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03020" y="2103120"/>
            <a:ext cx="2011680" cy="502920"/>
          </a:xfrm>
          <a:prstGeom prst="rect">
            <a:avLst/>
          </a:prstGeom>
          <a:solidFill>
            <a:srgbClr val="014654"/>
          </a:solidFill>
          <a:ln w="19050">
            <a:solidFill>
              <a:srgbClr val="0146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03020" y="2103120"/>
            <a:ext cx="20116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88236" y="2825496"/>
            <a:ext cx="841248" cy="56692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F254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43100" y="2880360"/>
            <a:ext cx="731520" cy="457200"/>
          </a:xfrm>
          <a:prstGeom prst="diamond">
            <a:avLst/>
          </a:prstGeom>
          <a:solidFill>
            <a:srgbClr val="F2542D"/>
          </a:solidFill>
          <a:ln/>
        </p:spPr>
      </p:sp>
      <p:sp>
        <p:nvSpPr>
          <p:cNvPr id="10" name="Text 8"/>
          <p:cNvSpPr/>
          <p:nvPr/>
        </p:nvSpPr>
        <p:spPr>
          <a:xfrm>
            <a:off x="1943100" y="2880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08860" y="2606040"/>
            <a:ext cx="0" cy="274320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02436" y="3602736"/>
            <a:ext cx="2212848" cy="612648"/>
          </a:xfrm>
          <a:prstGeom prst="rect">
            <a:avLst/>
          </a:prstGeom>
          <a:solidFill>
            <a:srgbClr val="FFFFFF"/>
          </a:solidFill>
          <a:ln w="19050">
            <a:solidFill>
              <a:srgbClr val="0146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3657600"/>
            <a:ext cx="2103120" cy="502920"/>
          </a:xfrm>
          <a:prstGeom prst="rect">
            <a:avLst/>
          </a:prstGeom>
          <a:solidFill>
            <a:srgbClr val="0B5560"/>
          </a:solidFill>
          <a:ln w="19050">
            <a:solidFill>
              <a:srgbClr val="0146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57300" y="3657600"/>
            <a:ext cx="21031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308860" y="3337560"/>
            <a:ext cx="0" cy="320040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8680" y="4434840"/>
            <a:ext cx="2880360" cy="457200"/>
          </a:xfrm>
          <a:prstGeom prst="ellipse">
            <a:avLst/>
          </a:prstGeom>
          <a:solidFill>
            <a:srgbClr val="F1FAF9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434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Room_No (partial key)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308860" y="4160520"/>
            <a:ext cx="0" cy="274320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5029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room number is only unique within a specific hotel property.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25112" y="1783080"/>
            <a:ext cx="35204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79492" y="2103120"/>
            <a:ext cx="2011680" cy="502920"/>
          </a:xfrm>
          <a:prstGeom prst="rect">
            <a:avLst/>
          </a:prstGeom>
          <a:solidFill>
            <a:srgbClr val="014654"/>
          </a:solidFill>
          <a:ln w="19050">
            <a:solidFill>
              <a:srgbClr val="01465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9492" y="2103120"/>
            <a:ext cx="20116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4708" y="2825496"/>
            <a:ext cx="841248" cy="56692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F2542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19572" y="2880360"/>
            <a:ext cx="731520" cy="457200"/>
          </a:xfrm>
          <a:prstGeom prst="diamond">
            <a:avLst/>
          </a:prstGeom>
          <a:solidFill>
            <a:srgbClr val="F2542D"/>
          </a:solidFill>
          <a:ln/>
        </p:spPr>
      </p:sp>
      <p:sp>
        <p:nvSpPr>
          <p:cNvPr id="25" name="Text 23"/>
          <p:cNvSpPr/>
          <p:nvPr/>
        </p:nvSpPr>
        <p:spPr>
          <a:xfrm>
            <a:off x="5719572" y="2880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85332" y="2606040"/>
            <a:ext cx="0" cy="274320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78908" y="3602736"/>
            <a:ext cx="2212848" cy="612648"/>
          </a:xfrm>
          <a:prstGeom prst="rect">
            <a:avLst/>
          </a:prstGeom>
          <a:solidFill>
            <a:srgbClr val="FFFFFF"/>
          </a:solidFill>
          <a:ln w="19050">
            <a:solidFill>
              <a:srgbClr val="01465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33772" y="3657600"/>
            <a:ext cx="2103120" cy="502920"/>
          </a:xfrm>
          <a:prstGeom prst="rect">
            <a:avLst/>
          </a:prstGeom>
          <a:solidFill>
            <a:srgbClr val="0B5560"/>
          </a:solidFill>
          <a:ln w="19050">
            <a:solidFill>
              <a:srgbClr val="0146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33772" y="3657600"/>
            <a:ext cx="21031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LINE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5332" y="3337560"/>
            <a:ext cx="0" cy="320040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45152" y="4434840"/>
            <a:ext cx="2880360" cy="457200"/>
          </a:xfrm>
          <a:prstGeom prst="ellipse">
            <a:avLst/>
          </a:prstGeom>
          <a:solidFill>
            <a:srgbClr val="F1FAF9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45152" y="4434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Line_No (partial key)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085332" y="4160520"/>
            <a:ext cx="0" cy="274320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53712" y="5029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invoice line item only makes sense in the context of a specific invoice.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101584" y="1783080"/>
            <a:ext cx="35204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F0EE"/>
            </a:solidFill>
            <a:prstDash val="solid"/>
          </a:ln>
          <a:effectLst>
            <a:outerShdw blurRad="63500" dist="25400" dir="5400000" algn="bl" rotWithShape="0">
              <a:srgbClr val="AAAAAA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855964" y="2103120"/>
            <a:ext cx="2011680" cy="502920"/>
          </a:xfrm>
          <a:prstGeom prst="rect">
            <a:avLst/>
          </a:prstGeom>
          <a:solidFill>
            <a:srgbClr val="014654"/>
          </a:solidFill>
          <a:ln w="19050">
            <a:solidFill>
              <a:srgbClr val="01465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855964" y="2103120"/>
            <a:ext cx="20116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9441180" y="2825496"/>
            <a:ext cx="841248" cy="566928"/>
          </a:xfrm>
          <a:prstGeom prst="diamond">
            <a:avLst/>
          </a:prstGeom>
          <a:solidFill>
            <a:srgbClr val="FFFFFF"/>
          </a:solidFill>
          <a:ln w="19050">
            <a:solidFill>
              <a:srgbClr val="F2542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496044" y="2880360"/>
            <a:ext cx="731520" cy="457200"/>
          </a:xfrm>
          <a:prstGeom prst="diamond">
            <a:avLst/>
          </a:prstGeom>
          <a:solidFill>
            <a:srgbClr val="F2542D"/>
          </a:solidFill>
          <a:ln/>
        </p:spPr>
      </p:sp>
      <p:sp>
        <p:nvSpPr>
          <p:cNvPr id="40" name="Text 38"/>
          <p:cNvSpPr/>
          <p:nvPr/>
        </p:nvSpPr>
        <p:spPr>
          <a:xfrm>
            <a:off x="9496044" y="2880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861804" y="2606040"/>
            <a:ext cx="0" cy="274320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55380" y="3602736"/>
            <a:ext cx="2212848" cy="612648"/>
          </a:xfrm>
          <a:prstGeom prst="rect">
            <a:avLst/>
          </a:prstGeom>
          <a:solidFill>
            <a:srgbClr val="FFFFFF"/>
          </a:solidFill>
          <a:ln w="19050">
            <a:solidFill>
              <a:srgbClr val="01465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10244" y="3657600"/>
            <a:ext cx="2103120" cy="502920"/>
          </a:xfrm>
          <a:prstGeom prst="rect">
            <a:avLst/>
          </a:prstGeom>
          <a:solidFill>
            <a:srgbClr val="0B5560"/>
          </a:solidFill>
          <a:ln w="19050">
            <a:solidFill>
              <a:srgbClr val="01465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10244" y="3657600"/>
            <a:ext cx="210312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SECTION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9861804" y="3337560"/>
            <a:ext cx="0" cy="320040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421624" y="4434840"/>
            <a:ext cx="2880360" cy="457200"/>
          </a:xfrm>
          <a:prstGeom prst="ellipse">
            <a:avLst/>
          </a:prstGeom>
          <a:solidFill>
            <a:srgbClr val="F1FAF9"/>
          </a:solidFill>
          <a:ln w="12700">
            <a:solidFill>
              <a:srgbClr val="D9F0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21624" y="44348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146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Section_No (partial key)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861804" y="4160520"/>
            <a:ext cx="0" cy="274320"/>
          </a:xfrm>
          <a:prstGeom prst="line">
            <a:avLst/>
          </a:prstGeom>
          <a:noFill/>
          <a:ln w="19050">
            <a:solidFill>
              <a:srgbClr val="8FC1C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30184" y="50292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section is identified by number only in relation to a specific course.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16128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146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5943600" cy="5943600"/>
          </a:xfrm>
          <a:prstGeom prst="ellipse">
            <a:avLst/>
          </a:prstGeom>
          <a:solidFill>
            <a:srgbClr val="01384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54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Covered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892808"/>
            <a:ext cx="365760" cy="365760"/>
          </a:xfrm>
          <a:prstGeom prst="ellipse">
            <a:avLst/>
          </a:prstGeom>
          <a:solidFill>
            <a:srgbClr val="F2542D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92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874520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modeling captures entities, attributes and relationships — demonstrated with an Online Hotel Reservation System.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606040"/>
            <a:ext cx="365760" cy="365760"/>
          </a:xfrm>
          <a:prstGeom prst="ellipse">
            <a:avLst/>
          </a:prstGeom>
          <a:solidFill>
            <a:srgbClr val="F2542D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58775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EER model extends ER with generalization and specialization to represent class hierarchies, as seen in the Vehicle Rental case study.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319272"/>
            <a:ext cx="365760" cy="365760"/>
          </a:xfrm>
          <a:prstGeom prst="ellipse">
            <a:avLst/>
          </a:prstGeom>
          <a:solidFill>
            <a:srgbClr val="F2542D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3192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33009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and physical data independence isolate applications from schema and storage changes.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032504"/>
            <a:ext cx="365760" cy="365760"/>
          </a:xfrm>
          <a:prstGeom prst="ellipse">
            <a:avLst/>
          </a:prstGeom>
          <a:solidFill>
            <a:srgbClr val="F2542D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4014216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DBMS relies on the Query Processor, Storage Manager, and Transaction Manager working in concert.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4745736"/>
            <a:ext cx="365760" cy="365760"/>
          </a:xfrm>
          <a:prstGeom prst="ellipse">
            <a:avLst/>
          </a:prstGeom>
          <a:solidFill>
            <a:srgbClr val="F2542D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745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4727448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9F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entities stand alone; weak entities depend on an owner entity and a partial key for identification.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" y="5852160"/>
            <a:ext cx="1280160" cy="27432"/>
          </a:xfrm>
          <a:prstGeom prst="rect">
            <a:avLst/>
          </a:prstGeom>
          <a:solidFill>
            <a:srgbClr val="D9F0E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989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25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devendra d</cp:lastModifiedBy>
  <cp:revision>2</cp:revision>
  <dcterms:created xsi:type="dcterms:W3CDTF">2026-07-23T03:25:42Z</dcterms:created>
  <dcterms:modified xsi:type="dcterms:W3CDTF">2026-07-23T03:30:47Z</dcterms:modified>
</cp:coreProperties>
</file>